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BCDDC"/>
                </a:solidFill>
                <a:latin typeface="Aptos"/>
              </a:defRPr>
            </a:pPr>
            <a:r>
              <a:t>EXATHON INDIA 2026  /  MONEY, RISK &amp; REGULATION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4800" b="1">
                <a:solidFill>
                  <a:srgbClr val="F7F9FC"/>
                </a:solidFill>
                <a:latin typeface="Aptos"/>
              </a:defRPr>
            </a:pPr>
            <a:r>
              <a:t>CertiFlow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06040"/>
            <a:ext cx="74980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B0BED2"/>
                </a:solidFill>
                <a:latin typeface="Aptos"/>
              </a:defRPr>
            </a:pPr>
            <a:r>
              <a:t>AI-assisted transaction fraud monitoring</a:t>
            </a:r>
          </a:p>
          <a:p>
            <a:pPr>
              <a:spcAft>
                <a:spcPts val="900"/>
              </a:spcAft>
              <a:defRPr sz="2500" b="0">
                <a:solidFill>
                  <a:srgbClr val="B0BED2"/>
                </a:solidFill>
                <a:latin typeface="Aptos"/>
              </a:defRPr>
            </a:pPr>
            <a:r>
              <a:t>with Exasol Personal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251960"/>
            <a:ext cx="2834640" cy="1234440"/>
          </a:xfrm>
          <a:prstGeom prst="roundRect">
            <a:avLst/>
          </a:prstGeom>
          <a:solidFill>
            <a:srgbClr val="182740"/>
          </a:solidFill>
          <a:ln>
            <a:solidFill>
              <a:srgbClr val="2F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4251960"/>
            <a:ext cx="64008" cy="1234440"/>
          </a:xfrm>
          <a:prstGeom prst="rect">
            <a:avLst/>
          </a:prstGeom>
          <a:solidFill>
            <a:srgbClr val="2D7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1655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9FC"/>
                </a:solidFill>
                <a:latin typeface="Aptos"/>
              </a:defRPr>
            </a:pPr>
            <a:r>
              <a:t>Operational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910328"/>
            <a:ext cx="2395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B0BED2"/>
                </a:solidFill>
                <a:latin typeface="Aptos"/>
              </a:defRPr>
            </a:pPr>
            <a:r>
              <a:t>MongoDB transaction ledger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60" y="4251960"/>
            <a:ext cx="2834640" cy="1234440"/>
          </a:xfrm>
          <a:prstGeom prst="roundRect">
            <a:avLst/>
          </a:prstGeom>
          <a:solidFill>
            <a:srgbClr val="182740"/>
          </a:solidFill>
          <a:ln>
            <a:solidFill>
              <a:srgbClr val="2F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94760" y="4251960"/>
            <a:ext cx="64008" cy="1234440"/>
          </a:xfrm>
          <a:prstGeom prst="rect">
            <a:avLst/>
          </a:prstGeom>
          <a:solidFill>
            <a:srgbClr val="4B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441655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9FC"/>
                </a:solidFill>
                <a:latin typeface="Aptos"/>
              </a:defRPr>
            </a:pPr>
            <a:r>
              <a:t>Risk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4910328"/>
            <a:ext cx="2395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B0BED2"/>
                </a:solidFill>
                <a:latin typeface="Aptos"/>
              </a:defRPr>
            </a:pPr>
            <a:r>
              <a:t>Rules + Python ML scoring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4251960"/>
            <a:ext cx="2834640" cy="1234440"/>
          </a:xfrm>
          <a:prstGeom prst="roundRect">
            <a:avLst/>
          </a:prstGeom>
          <a:solidFill>
            <a:srgbClr val="182740"/>
          </a:solidFill>
          <a:ln>
            <a:solidFill>
              <a:srgbClr val="2F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12280" y="4251960"/>
            <a:ext cx="64008" cy="123444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441655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9FC"/>
                </a:solidFill>
                <a:latin typeface="Aptos"/>
              </a:defRPr>
            </a:pPr>
            <a:r>
              <a:t>Analytical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910328"/>
            <a:ext cx="2395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B0BED2"/>
                </a:solidFill>
                <a:latin typeface="Aptos"/>
              </a:defRPr>
            </a:pPr>
            <a:r>
              <a:t>Exasol Personal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172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B0BED2"/>
                </a:solidFill>
                <a:latin typeface="Aptos"/>
              </a:defRPr>
            </a:pPr>
            <a:r>
              <a:t>Synthetic-data prototype • Replace this line with team name and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The problem: fraud signals are fragmented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657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BCDD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60120"/>
            <a:ext cx="1143000" cy="41148"/>
          </a:xfrm>
          <a:prstGeom prst="rect">
            <a:avLst/>
          </a:prstGeom>
          <a:solidFill>
            <a:srgbClr val="4B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A payment can be processed in milliseconds, but understanding patterns across payments is harder.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2286000" cy="1325880"/>
          </a:xfrm>
          <a:prstGeom prst="roundRect">
            <a:avLst/>
          </a:prstGeom>
          <a:solidFill>
            <a:srgbClr val="182740"/>
          </a:solidFill>
          <a:ln>
            <a:solidFill>
              <a:srgbClr val="2F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64008" cy="1325880"/>
          </a:xfrm>
          <a:prstGeom prst="rect">
            <a:avLst/>
          </a:prstGeom>
          <a:solidFill>
            <a:srgbClr val="2D7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8191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9FC"/>
                </a:solidFill>
                <a:latin typeface="Aptos"/>
              </a:defRPr>
            </a:pPr>
            <a:r>
              <a:t>Transaction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75688"/>
            <a:ext cx="18470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B0BED2"/>
                </a:solidFill>
                <a:latin typeface="Aptos"/>
              </a:defRPr>
            </a:pPr>
            <a:r>
              <a:t>Operational events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1417320"/>
            <a:ext cx="2286000" cy="1325880"/>
          </a:xfrm>
          <a:prstGeom prst="roundRect">
            <a:avLst/>
          </a:prstGeom>
          <a:solidFill>
            <a:srgbClr val="182740"/>
          </a:solidFill>
          <a:ln>
            <a:solidFill>
              <a:srgbClr val="2F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32520" y="1417320"/>
            <a:ext cx="64008" cy="132588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58191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9FC"/>
                </a:solidFill>
                <a:latin typeface="Aptos"/>
              </a:defRPr>
            </a:pPr>
            <a:r>
              <a:t>Risk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075688"/>
            <a:ext cx="18470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B0BED2"/>
                </a:solidFill>
                <a:latin typeface="Aptos"/>
              </a:defRPr>
            </a:pPr>
            <a:r>
              <a:t>Scores and rules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63240"/>
            <a:ext cx="2286000" cy="1325880"/>
          </a:xfrm>
          <a:prstGeom prst="roundRect">
            <a:avLst/>
          </a:prstGeom>
          <a:solidFill>
            <a:srgbClr val="182740"/>
          </a:solidFill>
          <a:ln>
            <a:solidFill>
              <a:srgbClr val="2F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063240"/>
            <a:ext cx="64008" cy="1325880"/>
          </a:xfrm>
          <a:prstGeom prst="rect">
            <a:avLst/>
          </a:prstGeom>
          <a:solidFill>
            <a:srgbClr val="4B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22783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9FC"/>
                </a:solidFill>
                <a:latin typeface="Aptos"/>
              </a:defRPr>
            </a:pPr>
            <a:r>
              <a:t>Behaviour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21608"/>
            <a:ext cx="18470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B0BED2"/>
                </a:solidFill>
                <a:latin typeface="Aptos"/>
              </a:defRPr>
            </a:pPr>
            <a:r>
              <a:t>Device, location, patterns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3063240"/>
            <a:ext cx="2286000" cy="1325880"/>
          </a:xfrm>
          <a:prstGeom prst="roundRect">
            <a:avLst/>
          </a:prstGeom>
          <a:solidFill>
            <a:srgbClr val="182740"/>
          </a:solidFill>
          <a:ln>
            <a:solidFill>
              <a:srgbClr val="2F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32520" y="3063240"/>
            <a:ext cx="64008" cy="1325880"/>
          </a:xfrm>
          <a:prstGeom prst="rect">
            <a:avLst/>
          </a:prstGeom>
          <a:solidFill>
            <a:srgbClr val="2D7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3227832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9FC"/>
                </a:solidFill>
                <a:latin typeface="Aptos"/>
              </a:defRPr>
            </a:pPr>
            <a:r>
              <a:t>Analyst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3721608"/>
            <a:ext cx="18470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B0BED2"/>
                </a:solidFill>
                <a:latin typeface="Aptos"/>
              </a:defRPr>
            </a:pPr>
            <a:r>
              <a:t>Review and follow-up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840480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B0BED2"/>
                </a:solidFill>
                <a:latin typeface="Aptos"/>
              </a:defRPr>
            </a:pPr>
            <a:r>
              <a:t>Impact: slower investigations, missed clusters, avoidable false positives, and limited operational visibility.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989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4BCDDC"/>
                </a:solidFill>
                <a:latin typeface="Aptos"/>
              </a:defRPr>
            </a:pPr>
            <a:r>
              <a:t>Problem statement avoids technology: analysts need a connected view of risk decisions across many payments.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The solution: fast decisions, deeper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657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BCDD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60120"/>
            <a:ext cx="1143000" cy="41148"/>
          </a:xfrm>
          <a:prstGeom prst="rect">
            <a:avLst/>
          </a:prstGeom>
          <a:solidFill>
            <a:srgbClr val="4B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29000" cy="1417320"/>
          </a:xfrm>
          <a:prstGeom prst="roundRect">
            <a:avLst/>
          </a:prstGeom>
          <a:solidFill>
            <a:srgbClr val="182740"/>
          </a:solidFill>
          <a:ln>
            <a:solidFill>
              <a:srgbClr val="2F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64008" cy="1417320"/>
          </a:xfrm>
          <a:prstGeom prst="rect">
            <a:avLst/>
          </a:prstGeom>
          <a:solidFill>
            <a:srgbClr val="2D7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8191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9FC"/>
                </a:solidFill>
                <a:latin typeface="Aptos"/>
              </a:defRPr>
            </a:pPr>
            <a:r>
              <a:t>1. 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75688"/>
            <a:ext cx="29900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B0BED2"/>
                </a:solidFill>
                <a:latin typeface="Aptos"/>
              </a:defRPr>
            </a:pPr>
            <a:r>
              <a:t>Behavioural features + configurable rules + ML probability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1417320"/>
          </a:xfrm>
          <a:prstGeom prst="roundRect">
            <a:avLst/>
          </a:prstGeom>
          <a:solidFill>
            <a:srgbClr val="182740"/>
          </a:solidFill>
          <a:ln>
            <a:solidFill>
              <a:srgbClr val="2F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64008" cy="141732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8191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9FC"/>
                </a:solidFill>
                <a:latin typeface="Aptos"/>
              </a:defRPr>
            </a:pPr>
            <a:r>
              <a:t>2. Decide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75688"/>
            <a:ext cx="29900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B0BED2"/>
                </a:solidFill>
                <a:latin typeface="Aptos"/>
              </a:defRPr>
            </a:pPr>
            <a:r>
              <a:t>ALLOW • ALLOW + notify • HOLD • BLOCK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429000" cy="1417320"/>
          </a:xfrm>
          <a:prstGeom prst="roundRect">
            <a:avLst/>
          </a:prstGeom>
          <a:solidFill>
            <a:srgbClr val="182740"/>
          </a:solidFill>
          <a:ln>
            <a:solidFill>
              <a:srgbClr val="2F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64008" cy="1417320"/>
          </a:xfrm>
          <a:prstGeom prst="rect">
            <a:avLst/>
          </a:prstGeom>
          <a:solidFill>
            <a:srgbClr val="4B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58191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9FC"/>
                </a:solidFill>
                <a:latin typeface="Aptos"/>
              </a:defRPr>
            </a:pPr>
            <a:r>
              <a:t>3. Learn from patterns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075688"/>
            <a:ext cx="29900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B0BED2"/>
                </a:solidFill>
                <a:latin typeface="Aptos"/>
              </a:defRPr>
            </a:pPr>
            <a:r>
              <a:t>Exasol SQL aggregates risk decisions and transaction trends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576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7F9FC"/>
                </a:solidFill>
                <a:latin typeface="Aptos"/>
              </a:defRPr>
            </a:pPr>
            <a:r>
              <a:t>Goal: help fraud analysts and administrators explore risk outcomes across the synthetic transaction stream.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B0BED2"/>
                </a:solidFill>
                <a:latin typeface="Aptos"/>
              </a:defRPr>
            </a:pPr>
            <a:r>
              <a:t>A decision-support prototype — not a production bank and not a claim that every unusual payment is fraud.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Architecture: operational store + Exasol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657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BCDD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60120"/>
            <a:ext cx="1143000" cy="41148"/>
          </a:xfrm>
          <a:prstGeom prst="rect">
            <a:avLst/>
          </a:prstGeom>
          <a:solidFill>
            <a:srgbClr val="4B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2057400" cy="1097280"/>
          </a:xfrm>
          <a:prstGeom prst="roundRect">
            <a:avLst/>
          </a:prstGeom>
          <a:solidFill>
            <a:srgbClr val="182740"/>
          </a:solidFill>
          <a:ln>
            <a:solidFill>
              <a:srgbClr val="2F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64008" cy="1097280"/>
          </a:xfrm>
          <a:prstGeom prst="rect">
            <a:avLst/>
          </a:prstGeom>
          <a:solidFill>
            <a:srgbClr val="2D7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9FC"/>
                </a:solidFill>
                <a:latin typeface="Aptos"/>
              </a:defRPr>
            </a:pPr>
            <a:r>
              <a:t>React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29967"/>
            <a:ext cx="1618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B0BED2"/>
                </a:solidFill>
                <a:latin typeface="Aptos"/>
              </a:defRPr>
            </a:pPr>
            <a:r>
              <a:t>Customer • Analyst • Admin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371600"/>
            <a:ext cx="2057400" cy="1097280"/>
          </a:xfrm>
          <a:prstGeom prst="roundRect">
            <a:avLst/>
          </a:prstGeom>
          <a:solidFill>
            <a:srgbClr val="182740"/>
          </a:solidFill>
          <a:ln>
            <a:solidFill>
              <a:srgbClr val="2F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71800" y="1371600"/>
            <a:ext cx="64008" cy="1097280"/>
          </a:xfrm>
          <a:prstGeom prst="rect">
            <a:avLst/>
          </a:prstGeom>
          <a:solidFill>
            <a:srgbClr val="4B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53619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9FC"/>
                </a:solidFill>
                <a:latin typeface="Aptos"/>
              </a:defRPr>
            </a:pPr>
            <a:r>
              <a:t>Express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029967"/>
            <a:ext cx="1618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B0BED2"/>
                </a:solidFill>
                <a:latin typeface="Aptos"/>
              </a:defRPr>
            </a:pPr>
            <a:r>
              <a:t>Auth + payment workflow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1371600"/>
            <a:ext cx="2057400" cy="1097280"/>
          </a:xfrm>
          <a:prstGeom prst="roundRect">
            <a:avLst/>
          </a:prstGeom>
          <a:solidFill>
            <a:srgbClr val="182740"/>
          </a:solidFill>
          <a:ln>
            <a:solidFill>
              <a:srgbClr val="2F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0" y="1371600"/>
            <a:ext cx="64008" cy="109728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153619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9FC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029967"/>
            <a:ext cx="1618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B0BED2"/>
                </a:solidFill>
                <a:latin typeface="Aptos"/>
              </a:defRPr>
            </a:pPr>
            <a:r>
              <a:t>Operational ledger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371600"/>
            <a:ext cx="2057400" cy="1097280"/>
          </a:xfrm>
          <a:prstGeom prst="roundRect">
            <a:avLst/>
          </a:prstGeom>
          <a:solidFill>
            <a:srgbClr val="182740"/>
          </a:solidFill>
          <a:ln>
            <a:solidFill>
              <a:srgbClr val="2F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1371600"/>
            <a:ext cx="64008" cy="1097280"/>
          </a:xfrm>
          <a:prstGeom prst="rect">
            <a:avLst/>
          </a:prstGeom>
          <a:solidFill>
            <a:srgbClr val="2D7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153619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9FC"/>
                </a:solidFill>
                <a:latin typeface="Aptos"/>
              </a:defRPr>
            </a:pPr>
            <a:r>
              <a:t>Redis +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029967"/>
            <a:ext cx="16184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B0BED2"/>
                </a:solidFill>
                <a:latin typeface="Aptos"/>
              </a:defRPr>
            </a:pPr>
            <a:r>
              <a:t>Behaviour + scoring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60" y="1371600"/>
            <a:ext cx="1600200" cy="1097280"/>
          </a:xfrm>
          <a:prstGeom prst="roundRect">
            <a:avLst/>
          </a:prstGeom>
          <a:solidFill>
            <a:srgbClr val="182740"/>
          </a:solidFill>
          <a:ln>
            <a:solidFill>
              <a:srgbClr val="2F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66960" y="1371600"/>
            <a:ext cx="64008" cy="1097280"/>
          </a:xfrm>
          <a:prstGeom prst="rect">
            <a:avLst/>
          </a:prstGeom>
          <a:solidFill>
            <a:srgbClr val="4B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95560" y="153619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9FC"/>
                </a:solidFill>
                <a:latin typeface="Aptos"/>
              </a:defRPr>
            </a:pPr>
            <a:r>
              <a:t>Exasol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029967"/>
            <a:ext cx="11612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B0BED2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1089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F7F9FC"/>
                </a:solidFill>
                <a:latin typeface="Aptos"/>
              </a:defRPr>
            </a:pPr>
            <a:r>
              <a:t>Committed transaction decision → asynchronous analytics event → CERTIFLOW.TRANSACTION_EVENTS → SQL aggregation → admin analytics endpoint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02920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B0BED2"/>
                </a:solidFill>
                <a:latin typeface="Aptos"/>
              </a:defRPr>
            </a:pPr>
            <a:r>
              <a:t>MongoDB remains the source of truth for payments. Exasol is the analytical data platform. Analytics delivery is best-effort in this prototype.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How Exasol is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657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BCDD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60120"/>
            <a:ext cx="1143000" cy="41148"/>
          </a:xfrm>
          <a:prstGeom prst="rect">
            <a:avLst/>
          </a:prstGeom>
          <a:solidFill>
            <a:srgbClr val="4B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1371600"/>
          </a:xfrm>
          <a:prstGeom prst="roundRect">
            <a:avLst/>
          </a:prstGeom>
          <a:solidFill>
            <a:srgbClr val="182740"/>
          </a:solidFill>
          <a:ln>
            <a:solidFill>
              <a:srgbClr val="2F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64008" cy="1371600"/>
          </a:xfrm>
          <a:prstGeom prst="rect">
            <a:avLst/>
          </a:prstGeom>
          <a:solidFill>
            <a:srgbClr val="4B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3619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9FC"/>
                </a:solidFill>
                <a:latin typeface="Aptos"/>
              </a:defRPr>
            </a:pPr>
            <a:r>
              <a:t>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29967"/>
            <a:ext cx="2944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B0BED2"/>
                </a:solidFill>
                <a:latin typeface="Aptos"/>
              </a:defRPr>
            </a:pPr>
            <a:r>
              <a:t>Minimal event fields: status, amount, risk score, level, decision, type, category,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371600"/>
          </a:xfrm>
          <a:prstGeom prst="roundRect">
            <a:avLst/>
          </a:prstGeom>
          <a:solidFill>
            <a:srgbClr val="182740"/>
          </a:solidFill>
          <a:ln>
            <a:solidFill>
              <a:srgbClr val="2F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64008" cy="1371600"/>
          </a:xfrm>
          <a:prstGeom prst="rect">
            <a:avLst/>
          </a:prstGeom>
          <a:solidFill>
            <a:srgbClr val="2D7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3619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9FC"/>
                </a:solidFill>
                <a:latin typeface="Aptos"/>
              </a:defRPr>
            </a:pPr>
            <a:r>
              <a:t>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29967"/>
            <a:ext cx="2944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B0BED2"/>
                </a:solidFill>
                <a:latin typeface="Aptos"/>
              </a:defRPr>
            </a:pPr>
            <a:r>
              <a:t>CERTIFLOW.TRANSACTION_EVENTS in Exasol Personal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383280" cy="1371600"/>
          </a:xfrm>
          <a:prstGeom prst="roundRect">
            <a:avLst/>
          </a:prstGeom>
          <a:solidFill>
            <a:srgbClr val="182740"/>
          </a:solidFill>
          <a:ln>
            <a:solidFill>
              <a:srgbClr val="2F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64008" cy="137160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53619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9FC"/>
                </a:solidFill>
                <a:latin typeface="Aptos"/>
              </a:defRPr>
            </a:pPr>
            <a:r>
              <a:t>Aggregate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029967"/>
            <a:ext cx="2944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B0BED2"/>
                </a:solidFill>
                <a:latin typeface="Aptos"/>
              </a:defRPr>
            </a:pPr>
            <a:r>
              <a:t>Total events, holds, blocks, high-risk counts, average score, daily trends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49039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7F9FC"/>
                </a:solidFill>
                <a:latin typeface="Aptos"/>
              </a:defRPr>
            </a:pPr>
            <a:r>
              <a:t>Evidence required for final demo: show real rows in Exasol and actual results from the authenticated admin analytics endpoint.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463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B0BED2"/>
                </a:solidFill>
                <a:latin typeface="Aptos"/>
              </a:defRPr>
            </a:pPr>
            <a:r>
              <a:t>Do not present mocked numbers as an Exasol integration. Configure credentials and verify the full path first.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657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BCDD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60120"/>
            <a:ext cx="1143000" cy="41148"/>
          </a:xfrm>
          <a:prstGeom prst="rect">
            <a:avLst/>
          </a:prstGeom>
          <a:solidFill>
            <a:srgbClr val="4B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14600" cy="1828800"/>
          </a:xfrm>
          <a:prstGeom prst="roundRect">
            <a:avLst/>
          </a:prstGeom>
          <a:solidFill>
            <a:srgbClr val="182740"/>
          </a:solidFill>
          <a:ln>
            <a:solidFill>
              <a:srgbClr val="2F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64008" cy="1828800"/>
          </a:xfrm>
          <a:prstGeom prst="rect">
            <a:avLst/>
          </a:prstGeom>
          <a:solidFill>
            <a:srgbClr val="2D7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9FC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87168"/>
            <a:ext cx="207568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B0BED2"/>
                </a:solidFill>
                <a:latin typeface="Aptos"/>
              </a:defRPr>
            </a:pPr>
            <a:r>
              <a:t>Sign in and initiate a synthetic payment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828800"/>
            <a:ext cx="2514600" cy="1828800"/>
          </a:xfrm>
          <a:prstGeom prst="roundRect">
            <a:avLst/>
          </a:prstGeom>
          <a:solidFill>
            <a:srgbClr val="182740"/>
          </a:solidFill>
          <a:ln>
            <a:solidFill>
              <a:srgbClr val="2F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828800"/>
            <a:ext cx="64008" cy="1828800"/>
          </a:xfrm>
          <a:prstGeom prst="rect">
            <a:avLst/>
          </a:prstGeom>
          <a:solidFill>
            <a:srgbClr val="4B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199339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9FC"/>
                </a:solidFill>
                <a:latin typeface="Aptos"/>
              </a:defRPr>
            </a:pPr>
            <a:r>
              <a:t>Risk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487168"/>
            <a:ext cx="207568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B0BED2"/>
                </a:solidFill>
                <a:latin typeface="Aptos"/>
              </a:defRPr>
            </a:pPr>
            <a:r>
              <a:t>Show decision, score, reasons and alert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2514600" cy="1828800"/>
          </a:xfrm>
          <a:prstGeom prst="roundRect">
            <a:avLst/>
          </a:prstGeom>
          <a:solidFill>
            <a:srgbClr val="182740"/>
          </a:solidFill>
          <a:ln>
            <a:solidFill>
              <a:srgbClr val="2F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64008" cy="182880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99339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9FC"/>
                </a:solidFill>
                <a:latin typeface="Aptos"/>
              </a:defRPr>
            </a:pPr>
            <a:r>
              <a:t>Analyst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487168"/>
            <a:ext cx="207568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B0BED2"/>
                </a:solidFill>
                <a:latin typeface="Aptos"/>
              </a:defRPr>
            </a:pPr>
            <a:r>
              <a:t>Review suspicious transaction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828800"/>
            <a:ext cx="2514600" cy="1828800"/>
          </a:xfrm>
          <a:prstGeom prst="roundRect">
            <a:avLst/>
          </a:prstGeom>
          <a:solidFill>
            <a:srgbClr val="182740"/>
          </a:solidFill>
          <a:ln>
            <a:solidFill>
              <a:srgbClr val="2F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828800"/>
            <a:ext cx="64008" cy="1828800"/>
          </a:xfrm>
          <a:prstGeom prst="rect">
            <a:avLst/>
          </a:prstGeom>
          <a:solidFill>
            <a:srgbClr val="2D7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199339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9FC"/>
                </a:solidFill>
                <a:latin typeface="Aptos"/>
              </a:defRPr>
            </a:pPr>
            <a:r>
              <a:t>Exasol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487168"/>
            <a:ext cx="207568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B0BED2"/>
                </a:solidFill>
                <a:latin typeface="Aptos"/>
              </a:defRPr>
            </a:pPr>
            <a:r>
              <a:t>Show ingested row and SQL aggregates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00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B0BED2"/>
                </a:solidFill>
                <a:latin typeface="Aptos"/>
              </a:defRPr>
            </a:pPr>
            <a:r>
              <a:t>Use only synthetic data. Keep the recorded video under 3 minutes.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Impact, limitations,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657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4BCDD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60120"/>
            <a:ext cx="1143000" cy="41148"/>
          </a:xfrm>
          <a:prstGeom prst="rect">
            <a:avLst/>
          </a:prstGeom>
          <a:solidFill>
            <a:srgbClr val="4B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1920240"/>
          </a:xfrm>
          <a:prstGeom prst="roundRect">
            <a:avLst/>
          </a:prstGeom>
          <a:solidFill>
            <a:srgbClr val="182740"/>
          </a:solidFill>
          <a:ln>
            <a:solidFill>
              <a:srgbClr val="2F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64008" cy="1920240"/>
          </a:xfrm>
          <a:prstGeom prst="rect">
            <a:avLst/>
          </a:prstGeom>
          <a:solidFill>
            <a:srgbClr val="4B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3619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9FC"/>
                </a:solidFill>
                <a:latin typeface="Aptos"/>
              </a:defRPr>
            </a:pPr>
            <a:r>
              <a:t>Potential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29967"/>
            <a:ext cx="294436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B0BED2"/>
                </a:solidFill>
                <a:latin typeface="Aptos"/>
              </a:defRPr>
            </a:pPr>
            <a:r>
              <a:t>Faster cross-transaction exploration; clearer visibility of risk outcomes; analyst-focused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920240"/>
          </a:xfrm>
          <a:prstGeom prst="roundRect">
            <a:avLst/>
          </a:prstGeom>
          <a:solidFill>
            <a:srgbClr val="182740"/>
          </a:solidFill>
          <a:ln>
            <a:solidFill>
              <a:srgbClr val="2F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64008" cy="192024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3619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9FC"/>
                </a:solidFill>
                <a:latin typeface="Aptos"/>
              </a:defRPr>
            </a:pPr>
            <a:r>
              <a:t>Current 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29967"/>
            <a:ext cx="294436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B0BED2"/>
                </a:solidFill>
                <a:latin typeface="Aptos"/>
              </a:defRPr>
            </a:pPr>
            <a:r>
              <a:t>Synthetic dataset; best-effort event delivery; demo-only credentials; not production hardened.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383280" cy="1920240"/>
          </a:xfrm>
          <a:prstGeom prst="roundRect">
            <a:avLst/>
          </a:prstGeom>
          <a:solidFill>
            <a:srgbClr val="182740"/>
          </a:solidFill>
          <a:ln>
            <a:solidFill>
              <a:srgbClr val="2F4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64008" cy="1920240"/>
          </a:xfrm>
          <a:prstGeom prst="rect">
            <a:avLst/>
          </a:prstGeom>
          <a:solidFill>
            <a:srgbClr val="2D7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536192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9FC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029967"/>
            <a:ext cx="294436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B0BED2"/>
                </a:solidFill>
                <a:latin typeface="Aptos"/>
              </a:defRPr>
            </a:pPr>
            <a:r>
              <a:t>Durable outbox/queue, retries, access controls, data retention, deployment and integration tests.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60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F7F9FC"/>
                </a:solidFill>
                <a:latin typeface="Aptos"/>
              </a:defRPr>
            </a:pPr>
            <a:r>
              <a:t>Open-source licence: MIT. Public or synthetic data only. Prior prototype reuse must be transparently disclosed.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15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B0BED2"/>
                </a:solidFill>
                <a:latin typeface="Aptos"/>
              </a:defRPr>
            </a:pPr>
            <a:r>
              <a:t>Before submission: replace with verified Exasol screenshots, team contributions and actual repository/demo links.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